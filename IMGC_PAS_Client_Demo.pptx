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IMGC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Policy Administration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Enterprise Platform — Complete Application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Version 3.2.1  |  Confidential  |  March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201168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611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14+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474720"/>
            <a:ext cx="201168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611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150+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474720"/>
            <a:ext cx="201168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611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User Roles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3474720"/>
            <a:ext cx="201168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39" y="3611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Calibri"/>
              </a:defRPr>
            </a:pPr>
            <a:r>
              <a:t>256-bit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Encryption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Platform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94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Policy Lifecycle Management — Quote to issuance in minutes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Claims Automation — FNOL to settlement tracking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Risk Intelligence — Real-time underwriting scoring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Billing &amp; Payments — Full invoicing and payment lifecycle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Compliance Ready — Regulatory audit trails built-in (SOC 2, IRDAI)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01  LOGIN &amp; AUTHENTICATION</a:t>
            </a:r>
          </a:p>
        </p:txBody>
      </p:sp>
      <p:pic>
        <p:nvPicPr>
          <p:cNvPr id="4" name="Picture 3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858000" cy="38025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98079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59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Secure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59" y="16459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JWT-based authentication with refresh tokens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Encrypted password storage (bcrypt)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Session management with auto-expiry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Role-based access control from login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256-bit encryption end-to-end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32918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59" y="3291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Enterprise UX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38404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Split-screen: Brand showcase + Login form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Platform highlights (Policy, Claims, Risk, Compliance)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SOC 2 &amp; IRDAI compliance badges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Responsive design for all devices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Orange accent theme (30% coverage)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530352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9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5 User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58521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Admin — Full system access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Underwriter — Risk assessment &amp; approval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Claims Adjuster — Claims processing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Operations — Customer-facing operations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Viewer — Read-only compliance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02  EXECUTIVE DASHBOARD</a:t>
            </a:r>
          </a:p>
        </p:txBody>
      </p:sp>
      <p:pic>
        <p:nvPicPr>
          <p:cNvPr id="4" name="Picture 3" descr="02-dashboard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Executive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7 Executive KPIs with target tracking: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Loss Ratio (Target: 65%)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Expense Ratio (Target: 35%)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Combined Ratio (Target: 100%)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Retention Rate (Target: 85%)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Collection Rate (Target: 90%)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Avg Cycle Time (Target: 30 days)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Avg Severity (Target: ₹50,000)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968496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9684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KPI Cards &amp;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517136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4 KPI Summary Cards: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Total Policies: 52 (23 active)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Total Premium: ₹43,87,475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Total Coverage: ₹13,73,00,324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Total Claims: 23 (₹1.00Cr total)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Policies by Status bar chart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Policy Type Distribution pie chart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02  DASHBOARD — ANALYTICS &amp; WIDGETS</a:t>
            </a:r>
          </a:p>
        </p:txBody>
      </p:sp>
      <p:pic>
        <p:nvPicPr>
          <p:cNvPr id="4" name="Picture 3" descr="03-dashboard-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Analytics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Risk Distribution pie chart: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Low: 24, Medium: 16, High: 10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Claims by Status horizontal bar chart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Underwriting Decisions donut chart: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Auto-Approve: 28, Refer: 12, Reject: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47472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Dashboard Widgets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023359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My Tasks widget with SLA deadlines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Underwriting Overview: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50 Total Evaluations, 41.5 Avg Risk Score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Billing Overview: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10 Accounts, ₹13,058 Outstanding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₹10,033 Collected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Overdue Accounts alert (5 accounts, ₹2,950)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03  POLICY MANAGEMENT</a:t>
            </a:r>
          </a:p>
        </p:txBody>
      </p:sp>
      <p:pic>
        <p:nvPicPr>
          <p:cNvPr id="4" name="Picture 3" descr="04-poli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Policy List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Comprehensive policy table with 8 columns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12 Policy statuses: Draft, Quoted, Bound,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Issued, Active, Endorsed, Renewal Pending,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Reinstated, Lapsed, Cancelled, Expired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Filter by status and policy type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Real-time search across all fields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Sortable columns (ID, Type, Premium, etc.)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Pagination: 10 records/page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968496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9684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Quick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517136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"New Quote" — Start quote wizard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"New Policy" — Direct policy creation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3 Policy Types: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Mortgage Guarantee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Credit Protection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Coverage Plus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Color-coded risk badges (Low/Medium/High)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Status badges with icons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04  POLICY DETAIL &amp; LIFECYCLE</a:t>
            </a:r>
          </a:p>
        </p:txBody>
      </p:sp>
      <p:pic>
        <p:nvPicPr>
          <p:cNvPr id="4" name="Picture 3" descr="05-policy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Policy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Visual Lifecycle Stepper: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Draft → Quoted → Bound → Issued → Active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Checkmarks on completed stages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Available Actions display: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Endorsed, Renewal Pending, Lapsed,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Cancelled, Expired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Header buttons: Initiate Renewal,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Lapse, Cancel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968496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9684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Detail Tabs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517136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8-Tab Detail View: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1. Details — Policy &amp; Financial info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2. Endorsements — Mid-term changes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3. Renewals — Renewal history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4. Timeline — Event chronology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5. Versions — Version comparison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6. Billing — Payment tracking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7. Documents — Generated docs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8. Audit — Complete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05  CUSTOMER MANAGEMENT</a:t>
            </a:r>
          </a:p>
        </p:txBody>
      </p:sp>
      <p:pic>
        <p:nvPicPr>
          <p:cNvPr id="4" name="Picture 3" descr="06-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Customer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Customer table: Name, Email, Phone,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Status, Policies, Risk Profile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Real-time search across all fields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Active/Inactive status badges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Risk profile indicators (Low/Med/High)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Direct link to customer policies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Pagination with record counts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712464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7124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261104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Create new customers with full profile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Edit existing customer information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View linked policies and claims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Risk profile assessment per customer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Customer detail with all linked entities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Search by name, email, or phone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06  UNDERWRITING ENGINE</a:t>
            </a:r>
          </a:p>
        </p:txBody>
      </p:sp>
      <p:pic>
        <p:nvPicPr>
          <p:cNvPr id="4" name="Picture 3" descr="07-underwri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Automated risk scoring (1-100 scale)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6 Underwriting Rules: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Property value limits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LTV ratio thresholds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Credit score requirements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Employment verification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Property type eligibility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Coverage ratio limits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968496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9684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Decisions &amp;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517136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Decision Categories: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Auto-Approve (Low Risk)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Refer (Medium Risk)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Reject (High Risk)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Manual override with justification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Configurable rules (Admin)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Referral queue for senior UW review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Delegated authority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07  CLAIMS MANAGEMENT</a:t>
            </a:r>
          </a:p>
        </p:txBody>
      </p:sp>
      <p:pic>
        <p:nvPicPr>
          <p:cNvPr id="4" name="Picture 3" descr="08-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Claims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Claims table: ID, Policy, Type, Status,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Amount, Filed Date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Status flow: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Filed → Under Review → Approved/Rejected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→ Settled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FNOL intake wizard (5-step process)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Reserve management &amp; tracking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Fraud indicator scoring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968496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9684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FNOL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517136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FNOL Intake Steps: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1. Incident Information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2. Policy Lookup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3. Damage Details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4. Document Upload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5. Review &amp; Submit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Claims timeline with event history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Loss mitigation tracking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Settlement 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08  BILLING &amp; PAYMENTS</a:t>
            </a:r>
          </a:p>
        </p:txBody>
      </p:sp>
      <p:pic>
        <p:nvPicPr>
          <p:cNvPr id="4" name="Picture 3" descr="09-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Billing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Billing accounts linked to policies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Auto-generated invoices with line items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Payment tracking by method: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Cash, Check, UPI, Bank Transfer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Installment plans: Annual, Semi-Annual,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Quarterly, Monthly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Receivables Aging chart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(Current, 30d, 60d, 90d, 90+)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968496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9684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Automation &amp;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517136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Grace period automation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(Overdue → Grace → Lapse)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Double-entry ledger: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Premiums, Payments, Refunds, Write-offs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KPIs: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10 Total Accounts (7 Active)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₹13,058 Outstanding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₹10,033 Collected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5 Overdue (₹2,950)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09  TASK MANAGEMENT</a:t>
            </a:r>
          </a:p>
        </p:txBody>
      </p:sp>
      <p:pic>
        <p:nvPicPr>
          <p:cNvPr id="4" name="Picture 3" descr="10-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Task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Summary cards: Open, In Progress,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Completed, Overdue counts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Task table: Title, Assignee, Priority,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Due Date, Status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Priority: Urgent, High, Medium, Low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SLA countdown with overdue alerts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Task assignment/reassignment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712464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7124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Workflow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261104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Auto-task creation from workflows: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New claim → Claims adjuster task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UW referral → Senior UW task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Renewal due → Operations task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Overdue payment → Billing task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Dashboard widget for quick access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Task detail drawer with activity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10  DOCUMENT MANAGEMENT</a:t>
            </a:r>
          </a:p>
        </p:txBody>
      </p:sp>
      <p:pic>
        <p:nvPicPr>
          <p:cNvPr id="4" name="Picture 3" descr="11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Document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Category tabs: All, Policy, Claims,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Underwriting, Correspondence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Document table: Name, Category,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Entity, Date, Size, Actions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Drag-and-drop file upload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Document generation from templates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Full-text search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Version control with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968496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9684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Generation &amp; Templates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517136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Generated Document Types: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Policy Declarations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Certificates of Insurance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Endorsement Schedules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Claims Correspondence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Billing Invoices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In-app preview for PDF/images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Bulk download as ZIP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11  REPORTS &amp; ANALYTICS</a:t>
            </a:r>
          </a:p>
        </p:txBody>
      </p:sp>
      <p:pic>
        <p:nvPicPr>
          <p:cNvPr id="4" name="Picture 3" descr="12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Report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Report Types: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Policy Reports (premium trends)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Claims Reports (severity, cycle time)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Financial Reports (revenue, loss ratios)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Interactive bar charts and pie charts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Summary metrics with trend indicators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47472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Filtering &amp;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023359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Date range presets: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This Month, Last Month, Last Quarter,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Year-to-Date, Custom range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Tab-based navigation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(Policy, Claims, Financial)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Export capabilities for data analysis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Visual summaries with KPI cards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12  ADMINISTRATION &amp; USER MANAGEMENT</a:t>
            </a:r>
          </a:p>
        </p:txBody>
      </p:sp>
      <p:pic>
        <p:nvPicPr>
          <p:cNvPr id="4" name="Picture 3" descr="13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User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User table: Name, Email, Role,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Status, Last Active, Actions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RBAC with 5 predefined roles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Add/Edit/Activate/Deactivate users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Color-coded role badges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Complete audit logging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47472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RBAC &amp;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023359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Role Permissions Matrix: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Admin: Full access to all modules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Underwriter: Evaluation access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Claims Adjuster: Claims processing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Operations: Customer-facing operations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— Viewer: Read-only compliance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Session management controls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13  COMPLIANCE MANAGEMENT</a:t>
            </a:r>
          </a:p>
        </p:txBody>
      </p:sp>
      <p:pic>
        <p:nvPicPr>
          <p:cNvPr id="4" name="Picture 3" descr="14-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3954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80960" y="109728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Regulatory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459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Regulatory requirements tracker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Status: Compliant, Non-Compliant,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Under Review, Due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IRDAI regulatory filing status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Compliance calendar with deadlines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Alert system for upcoming deadlines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47472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Audit &amp;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023359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Complete audit trail for all actions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User action logging with timestamps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Data change history (before/after)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Compliance report generation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SOC 2 documentation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Regulatory filing tracking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14  MODULE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4114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51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051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11247120" cy="329184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81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4813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Executive KPIs, 7 charts, role-based views, widgets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10512"/>
            <a:ext cx="112471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828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Full lifecycle (Quote→Bind→Issue→Endorse→Renew→Cancel), versioning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57984"/>
            <a:ext cx="11247120" cy="329184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762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176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CRUD operations, risk profiles, linked policies/claims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05456"/>
            <a:ext cx="112471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237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5237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Underwriting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6 rules, risk scoring (1-100), manual override, referral queue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52928"/>
            <a:ext cx="11247120" cy="329184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8712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8712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Claims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87121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FNOL intake, status workflow, reserve management, fraud scoring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00400"/>
            <a:ext cx="112471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18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218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2186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Invoicing, payments, installments, aging reports, ledger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547872"/>
            <a:ext cx="11247120" cy="329184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5661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Queue management, SLA tracking, auto-assignment from workflows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895344"/>
            <a:ext cx="112471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136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913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9136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Upload, template-based generation, categories, versioning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242816"/>
            <a:ext cx="11247120" cy="329184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2611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2611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4261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Policy/Claims/Financial reports, date filtering, charts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590288"/>
            <a:ext cx="112471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6085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4608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4608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User CRUD, RBAC (5 roles), audit logs, session management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937760"/>
            <a:ext cx="11247120" cy="329184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956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4956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4956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Regulatory tracking, deadline alerts, filing status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285231"/>
            <a:ext cx="112471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30351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5303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Renewals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0" y="530351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Renewal queue, batch processing, auto-renewal workflow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632704"/>
            <a:ext cx="11247120" cy="329184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6509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650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FNOL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56509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Structured 5-step intake wizard, document collection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980176"/>
            <a:ext cx="112471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9984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0160" y="5998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0" y="59984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In-app alerts, bell icon, read/unread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15  TECHNOLOGY STACK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73152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Next.js 14, React 18,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Server-side rendering, type safety, modern component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97280"/>
            <a:ext cx="34747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80160"/>
            <a:ext cx="73152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Tailwind CSS, Lucide Icons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Enterprise UI with consistent design system, 30% orange accent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747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280160"/>
            <a:ext cx="73152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116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Interactive data visualizations — bar, pie, donut, horizontal bar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26080"/>
            <a:ext cx="34747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108960"/>
            <a:ext cx="73152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20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Express.js, TypeScript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40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RESTful API server with 150+ endpoints, middleware 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926080"/>
            <a:ext cx="34747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108960"/>
            <a:ext cx="73152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520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JWT + Refresh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840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Stateless authentication, RBAC, session 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926080"/>
            <a:ext cx="34747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3108960"/>
            <a:ext cx="73152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20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JSON File 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840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Rapid prototyping with database-ready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Non-Functional 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94960"/>
            <a:ext cx="2011680" cy="9144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440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Responsive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7607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Desktop, tablet, mobile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5394960"/>
            <a:ext cx="2011680" cy="9144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5440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Accessible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57607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WCAG 2.1, ARIA labels, keyboard nav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5394960"/>
            <a:ext cx="2011680" cy="9144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5440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Performant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57607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Skeleton loading, staggered animations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5394960"/>
            <a:ext cx="2011680" cy="9144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5440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Secure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57607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256-bit encryption, RBAC, JWT, input sanitization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01200" y="5394960"/>
            <a:ext cx="2011680" cy="9144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5440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Enterprise UX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60" y="57607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Toasts, confirmations, breadcrumbs, search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IMGC CORPORATION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Calibri"/>
              </a:defRPr>
            </a:pPr>
            <a:r>
              <a:t>Policy Administration System — Enterprise Edition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206240"/>
            <a:ext cx="301752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For questions or demo access, contact the PAS Development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Confidential  |  IMGC PAS v3.2.1  |  March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852160"/>
            <a:ext cx="1554480" cy="45720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897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14+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5852160"/>
            <a:ext cx="1554480" cy="45720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5897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150+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5852160"/>
            <a:ext cx="1554480" cy="45720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5897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5 User 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5852160"/>
            <a:ext cx="1554480" cy="45720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5897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256-bit Encrypted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852160"/>
            <a:ext cx="1554480" cy="45720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5897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SOC 2 Compliant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5852160"/>
            <a:ext cx="1554480" cy="457200"/>
          </a:xfrm>
          <a:prstGeom prst="round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5897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IRDAI Regulated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