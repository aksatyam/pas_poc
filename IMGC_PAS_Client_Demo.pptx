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IMGC CORPORATION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Calibri"/>
              </a:defRPr>
            </a:pPr>
            <a:r>
              <a:t>Policy Administration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BD5E1"/>
                </a:solidFill>
                <a:latin typeface="Calibri"/>
              </a:defRPr>
            </a:pPr>
            <a:r>
              <a:t>Enterprise Platform — Complete Application Walkthrough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Version 3.2.1  |  Confidential  |  March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3474720"/>
            <a:ext cx="2011680" cy="10972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3611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59E0B"/>
                </a:solidFill>
                <a:latin typeface="Calibri"/>
              </a:defRPr>
            </a:pPr>
            <a:r>
              <a:t>14+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690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Modules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31920" y="3474720"/>
            <a:ext cx="2011680" cy="10972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3611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59E0B"/>
                </a:solidFill>
                <a:latin typeface="Calibri"/>
              </a:defRPr>
            </a:pPr>
            <a:r>
              <a:t>150+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0690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API Endpoints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3474720"/>
            <a:ext cx="2011680" cy="10972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3611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59E0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0690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User Roles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59" y="3474720"/>
            <a:ext cx="2011680" cy="10972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39" y="3611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59E0B"/>
                </a:solidFill>
                <a:latin typeface="Calibri"/>
              </a:defRPr>
            </a:pPr>
            <a:r>
              <a:t>256-bit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39" y="40690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Encryption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Platform Capabilities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3949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Policy Lifecycle Management — Quote to issuance in minutes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Claims Automation — FNOL to settlement tracking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Risk Intelligence — Real-time underwriting scoring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Billing &amp; Payments — Full invoicing and payment lifecycle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Compliance Ready — Regulatory audit trails built-in (SOC 2, IRDAI)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Calibri"/>
              </a:defRPr>
            </a:pPr>
            <a:r>
              <a:t>01  LOGIN &amp; AUTHENTICATION</a:t>
            </a:r>
          </a:p>
        </p:txBody>
      </p:sp>
      <p:pic>
        <p:nvPicPr>
          <p:cNvPr id="4" name="Picture 3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6858000" cy="380258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498079" y="109728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59" y="1097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Secure Authentication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59" y="164592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JWT-based authentication with refresh tokens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Encrypted password storage (bcrypt)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Session management with auto-expiry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Role-based access control from login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256-bit encryption end-to-end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329184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59" y="3291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Enterprise UX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59" y="384048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Split-screen: Brand showcase + Login form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Platform highlights (Policy, Claims, Risk, Compliance)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SOC 2 &amp; IRDAI compliance badges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Responsive design for all devices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Orange accent theme (30% coverage)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530352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59" y="5303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5 User Roles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59" y="585216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Admin — Full system access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Underwriter — Risk assessment &amp; approval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Claims Adjuster — Claims processing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Agent — Customer-facing operations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Auditor — Read-only compliance review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Calibri"/>
              </a:defRPr>
            </a:pPr>
            <a:r>
              <a:t>02  EXECUTIVE DASHBOARD</a:t>
            </a:r>
          </a:p>
        </p:txBody>
      </p:sp>
      <p:pic>
        <p:nvPicPr>
          <p:cNvPr id="4" name="Picture 3" descr="02-dashboard-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132320" cy="395469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680960" y="109728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097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Executive KPIs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64592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7 Executive KPIs with target tracking: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Loss Ratio (Target: 65%)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Expense Ratio (Target: 35%)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Combined Ratio (Target: 100%)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Retention Rate (Target: 85%)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Collection Rate (Target: 90%)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Avg Cycle Time (Target: 30 days)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Avg Severity (Target: ₹50,000)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3968496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3968496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KPI Cards &amp; Charts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517136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4 KPI Summary Cards: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Total Policies: 52 (23 active)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Total Premium: ₹43,87,475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Total Coverage: ₹13,73,00,324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Total Claims: 23 (₹1.00Cr total)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Policies by Status bar chart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Policy Type Distribution pie chart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Calibri"/>
              </a:defRPr>
            </a:pPr>
            <a:r>
              <a:t>02  DASHBOARD — ANALYTICS &amp; WIDGETS</a:t>
            </a:r>
          </a:p>
        </p:txBody>
      </p:sp>
      <p:pic>
        <p:nvPicPr>
          <p:cNvPr id="4" name="Picture 3" descr="03-dashboard-bot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132320" cy="395469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680960" y="109728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097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Analytics Charts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64592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Risk Distribution pie chart: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Low: 24, Medium: 16, High: 10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Claims by Status horizontal bar chart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Underwriting Decisions donut chart: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Auto-Approve: 28, Refer: 12, Reject: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347472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34747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Dashboard Widgets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023359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My Tasks widget with SLA deadlines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Underwriting Overview: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50 Total Evaluations, 41.5 Avg Risk Score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Billing Overview: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10 Accounts, ₹13,058 Outstanding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₹10,033 Collected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Overdue Accounts alert (5 accounts, ₹2,950)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Calibri"/>
              </a:defRPr>
            </a:pPr>
            <a:r>
              <a:t>03  POLICY MANAGEMENT</a:t>
            </a:r>
          </a:p>
        </p:txBody>
      </p:sp>
      <p:pic>
        <p:nvPicPr>
          <p:cNvPr id="4" name="Picture 3" descr="04-poli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132320" cy="395469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680960" y="109728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097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Policy List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64592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Comprehensive policy table with 8 columns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12 Policy statuses: Draft, Quoted, Bound,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Issued, Active, Endorsed, Renewal Pending,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Reinstated, Lapsed, Cancelled, Expired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Filter by status and policy type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Real-time search across all fields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Sortable columns (ID, Type, Premium, etc.)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Pagination: 10 records/page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3968496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3968496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Quick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517136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"New Quote" — Start quote wizard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"New Policy" — Direct policy creation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3 Policy Types: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Mortgage Guarantee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Credit Protection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Coverage Plus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Color-coded risk badges (Low/Medium/High)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Status badges with icons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Calibri"/>
              </a:defRPr>
            </a:pPr>
            <a:r>
              <a:t>04  POLICY DETAIL &amp; LIFECYCLE</a:t>
            </a:r>
          </a:p>
        </p:txBody>
      </p:sp>
      <p:pic>
        <p:nvPicPr>
          <p:cNvPr id="4" name="Picture 3" descr="05-policy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132320" cy="395469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680960" y="109728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097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Policy Lifecycle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64592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Visual Lifecycle Stepper: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Draft → Quoted → Bound → Issued → Active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Checkmarks on completed stages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Available Actions display: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Endorsed, Renewal Pending, Lapsed,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Cancelled, Expired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Header buttons: Initiate Renewal,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Lapse, Cancel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3968496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3968496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Detail Tabs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517136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8-Tab Detail View: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1. Details — Policy &amp; Financial info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2. Endorsements — Mid-term changes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3. Renewals — Renewal history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4. Timeline — Event chronology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5. Versions — Version comparison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6. Billing — Payment tracking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7. Documents — Generated docs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8. Audit — Complete audit trail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Calibri"/>
              </a:defRPr>
            </a:pPr>
            <a:r>
              <a:t>05  CUSTOMER MANAGEMENT</a:t>
            </a:r>
          </a:p>
        </p:txBody>
      </p:sp>
      <p:pic>
        <p:nvPicPr>
          <p:cNvPr id="4" name="Picture 3" descr="06-custom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132320" cy="395469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680960" y="109728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097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Customer Records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64592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Customer table: Name, Email, Phone,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Status, Policies, Risk Profile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Real-time search across all fields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Active/Inactive status badges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Risk profile indicators (Low/Med/High)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Direct link to customer policies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Pagination with record counts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3712464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3712464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Customer 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261104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Create new customers with full profile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Edit existing customer information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View linked policies and claims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Risk profile assessment per customer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Customer detail with all linked entities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Search by name, email, or phone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Calibri"/>
              </a:defRPr>
            </a:pPr>
            <a:r>
              <a:t>06  UNDERWRITING ENGINE</a:t>
            </a:r>
          </a:p>
        </p:txBody>
      </p:sp>
      <p:pic>
        <p:nvPicPr>
          <p:cNvPr id="4" name="Picture 3" descr="07-underwri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132320" cy="395469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680960" y="109728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097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Risk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64592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Automated risk scoring (1-100 scale)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6 Underwriting Rules: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Property value limits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LTV ratio thresholds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Credit score requirements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Employment verification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Property type eligibility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Coverage ratio limits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3968496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3968496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Decisions &amp;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517136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Decision Categories: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Auto-Approve (Low Risk)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Refer (Medium Risk)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Reject (High Risk)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Manual override with justification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Configurable rules (Admin)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Referral queue for senior UW review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Delegated authority management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Calibri"/>
              </a:defRPr>
            </a:pPr>
            <a:r>
              <a:t>07  CLAIMS MANAGEMENT</a:t>
            </a:r>
          </a:p>
        </p:txBody>
      </p:sp>
      <p:pic>
        <p:nvPicPr>
          <p:cNvPr id="4" name="Picture 3" descr="08-clai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132320" cy="395469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680960" y="109728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097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Claims 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64592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Claims table: ID, Policy, Type, Status,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Amount, Filed Date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Status flow: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Filed → Under Review → Approved/Rejected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→ Settled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FNOL intake wizard (5-step process)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Reserve management &amp; tracking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Fraud indicator scoring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3968496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3968496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FNOL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517136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FNOL Intake Steps: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1. Incident Information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2. Policy Lookup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3. Damage Details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4. Document Upload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5. Review &amp; Submit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Claims timeline with event history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Loss mitigation tracking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Settlement processing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Calibri"/>
              </a:defRPr>
            </a:pPr>
            <a:r>
              <a:t>08  BILLING &amp; PAYMENTS</a:t>
            </a:r>
          </a:p>
        </p:txBody>
      </p:sp>
      <p:pic>
        <p:nvPicPr>
          <p:cNvPr id="4" name="Picture 3" descr="09-bil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132320" cy="395469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680960" y="109728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097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Billing Lifecycle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64592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Billing accounts linked to policies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Auto-generated invoices with line items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Payment tracking by method: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Cash, Check, UPI, Bank Transfer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Installment plans: Annual, Semi-Annual,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Quarterly, Monthly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Receivables Aging chart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(Current, 30d, 60d, 90d, 90+)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3968496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3968496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Automation &amp; Ledger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517136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Grace period automation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(Overdue → Grace → Lapse)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Double-entry ledger: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Premiums, Payments, Refunds, Write-offs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KPIs: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10 Total Accounts (7 Active)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₹13,058 Outstanding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₹10,033 Collected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5 Overdue (₹2,950)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Calibri"/>
              </a:defRPr>
            </a:pPr>
            <a:r>
              <a:t>09  TASK MANAGEMENT</a:t>
            </a:r>
          </a:p>
        </p:txBody>
      </p:sp>
      <p:pic>
        <p:nvPicPr>
          <p:cNvPr id="4" name="Picture 3" descr="10-t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132320" cy="395469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680960" y="109728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097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Task Queue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64592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Summary cards: Open, In Progress,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Completed, Overdue counts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Task table: Title, Assignee, Priority,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Due Date, Status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Priority: Urgent, High, Medium, Low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SLA countdown with overdue alerts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Task assignment/reassignment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3712464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3712464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Workflow Automation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261104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Auto-task creation from workflows: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New claim → Claims adjuster task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UW referral → Senior UW task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Renewal due → Operations task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Overdue payment → Billing task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Dashboard widget for quick access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Task detail drawer with activity log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Calibri"/>
              </a:defRPr>
            </a:pPr>
            <a:r>
              <a:t>10  DOCUMENT MANAGEMENT</a:t>
            </a:r>
          </a:p>
        </p:txBody>
      </p:sp>
      <p:pic>
        <p:nvPicPr>
          <p:cNvPr id="4" name="Picture 3" descr="11-docu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132320" cy="395469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680960" y="109728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097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Document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64592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Category tabs: All, Policy, Claims,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Underwriting, Correspondence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Document table: Name, Category,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Entity, Date, Size, Actions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Drag-and-drop file upload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Document generation from templates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Full-text search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Version control with history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3968496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3968496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Generation &amp; Templates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517136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Generated Document Types: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Policy Declarations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Certificates of Insurance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Endorsement Schedules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Claims Correspondence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Billing Invoices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In-app preview for PDF/images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Bulk download as ZIP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Calibri"/>
              </a:defRPr>
            </a:pPr>
            <a:r>
              <a:t>11  REPORTS &amp; ANALYTICS</a:t>
            </a:r>
          </a:p>
        </p:txBody>
      </p:sp>
      <p:pic>
        <p:nvPicPr>
          <p:cNvPr id="4" name="Picture 3" descr="12-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132320" cy="395469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680960" y="109728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097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Report 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64592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Report Types: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Policy Reports (premium trends)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Claims Reports (severity, cycle time)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Financial Reports (revenue, loss ratios)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Interactive bar charts and pie charts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Summary metrics with trend indicators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347472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34747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Filtering &amp; Export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023359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Date range presets: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This Month, Last Month, Last Quarter,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Year-to-Date, Custom range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Tab-based navigation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(Policy, Claims, Financial)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Export capabilities for data analysis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Visual summaries with KPI cards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Calibri"/>
              </a:defRPr>
            </a:pPr>
            <a:r>
              <a:t>12  ADMINISTRATION &amp; USER MANAGEMENT</a:t>
            </a:r>
          </a:p>
        </p:txBody>
      </p:sp>
      <p:pic>
        <p:nvPicPr>
          <p:cNvPr id="4" name="Picture 3" descr="13-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132320" cy="395469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680960" y="109728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097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User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64592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User table: Name, Email, Role,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Status, Last Active, Actions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RBAC with 5 predefined roles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Add/Edit/Activate/Deactivate users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Color-coded role badges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Complete audit logging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347472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34747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RBAC &amp; Permissions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023359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Role Permissions Matrix: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Admin: Full access to all modules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Underwriter: Evaluation access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Claims Adjuster: Claims processing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Agent: Customer-facing operations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— Auditor: Read-only compliance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Session management controls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Calibri"/>
              </a:defRPr>
            </a:pPr>
            <a:r>
              <a:t>13  COMPLIANCE MANAGEMENT</a:t>
            </a:r>
          </a:p>
        </p:txBody>
      </p:sp>
      <p:pic>
        <p:nvPicPr>
          <p:cNvPr id="4" name="Picture 3" descr="14-compl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132320" cy="395469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680960" y="109728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097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Regulatory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64592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Regulatory requirements tracker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Status: Compliant, Non-Compliant,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Under Review, Due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IRDAI regulatory filing status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Compliance calendar with deadlines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Alert system for upcoming deadlines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347472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34747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Audit &amp; 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023359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Complete audit trail for all actions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User action logging with timestamps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Data change history (before/after)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Compliance report generation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SOC 2 documentation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Regulatory filing tracking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Calibri"/>
              </a:defRPr>
            </a:pPr>
            <a:r>
              <a:t>14  MODULE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11247120" cy="4114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  <a:latin typeface="Calibr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051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  <a:latin typeface="Calibri"/>
              </a:defRPr>
            </a:pPr>
            <a:r>
              <a:t>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0515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  <a:latin typeface="Calibri"/>
              </a:defRPr>
            </a:pPr>
            <a:r>
              <a:t>Key Capabilities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11247120" cy="329184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813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3A5F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4813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Executive KPIs, 7 charts, role-based views, widgets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810512"/>
            <a:ext cx="1124712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828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828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3A5F"/>
                </a:solidFill>
                <a:latin typeface="Calibri"/>
              </a:defRPr>
            </a:pPr>
            <a:r>
              <a:t>Policies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1828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Full lifecycle (Quote→Bind→Issue→Endorse→Renew→Cancel), versioning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157984"/>
            <a:ext cx="11247120" cy="329184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1762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17627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3A5F"/>
                </a:solidFill>
                <a:latin typeface="Calibri"/>
              </a:defRPr>
            </a:pPr>
            <a:r>
              <a:t>Customers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2176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CRUD operations, risk profiles, linked policies/claims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05456"/>
            <a:ext cx="1124712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52374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25237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3A5F"/>
                </a:solidFill>
                <a:latin typeface="Calibri"/>
              </a:defRPr>
            </a:pPr>
            <a:r>
              <a:t>Underwriting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25237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6 rules, risk scoring (1-100), manual override, referral queue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52928"/>
            <a:ext cx="11247120" cy="329184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287121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287121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3A5F"/>
                </a:solidFill>
                <a:latin typeface="Calibri"/>
              </a:defRPr>
            </a:pPr>
            <a:r>
              <a:t>Claims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287121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FNOL intake, status workflow, reserve management, fraud scoring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200400"/>
            <a:ext cx="1124712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2186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32186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3A5F"/>
                </a:solidFill>
                <a:latin typeface="Calibri"/>
              </a:defRPr>
            </a:pPr>
            <a:r>
              <a:t>Billing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32186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Invoicing, payments, installments, aging reports, ledger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547872"/>
            <a:ext cx="11247120" cy="329184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35661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3566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3A5F"/>
                </a:solidFill>
                <a:latin typeface="Calibri"/>
              </a:defRPr>
            </a:pPr>
            <a:r>
              <a:t>Tasks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3566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Queue management, SLA tracking, auto-assignment from workflows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3895344"/>
            <a:ext cx="1124712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391363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3913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3A5F"/>
                </a:solidFill>
                <a:latin typeface="Calibri"/>
              </a:defRPr>
            </a:pPr>
            <a:r>
              <a:t>Documents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39136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Upload, template-based generation, categories, versioning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242816"/>
            <a:ext cx="11247120" cy="329184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261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426110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3A5F"/>
                </a:solidFill>
                <a:latin typeface="Calibri"/>
              </a:defRPr>
            </a:pPr>
            <a:r>
              <a:t>Reports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4261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Policy/Claims/Financial reports, date filtering, charts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590288"/>
            <a:ext cx="1124712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460857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80160" y="46085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3A5F"/>
                </a:solidFill>
                <a:latin typeface="Calibri"/>
              </a:defRPr>
            </a:pPr>
            <a:r>
              <a:t>Admin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0" y="46085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User CRUD, RBAC (5 roles), audit logs, session management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4937760"/>
            <a:ext cx="11247120" cy="329184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95604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80160" y="495604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3A5F"/>
                </a:solidFill>
                <a:latin typeface="Calibri"/>
              </a:defRPr>
            </a:pPr>
            <a:r>
              <a:t>Compliance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0" y="49560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Regulatory tracking, deadline alerts, filing status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5285231"/>
            <a:ext cx="1124712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530351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80160" y="530351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3A5F"/>
                </a:solidFill>
                <a:latin typeface="Calibri"/>
              </a:defRPr>
            </a:pPr>
            <a:r>
              <a:t>Renewals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0400" y="5303519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Renewal queue, batch processing, auto-renewal workflow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7200" y="5632704"/>
            <a:ext cx="11247120" cy="329184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565099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80160" y="56509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3A5F"/>
                </a:solidFill>
                <a:latin typeface="Calibri"/>
              </a:defRPr>
            </a:pPr>
            <a:r>
              <a:t>FNOL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56509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Structured 5-step intake wizard, document collection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57200" y="5980176"/>
            <a:ext cx="1124712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" y="599846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80160" y="59984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3A5F"/>
                </a:solidFill>
                <a:latin typeface="Calibri"/>
              </a:defRPr>
            </a:pPr>
            <a:r>
              <a:t>Notifications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00400" y="599846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In-app alerts, bell icon, read/unread management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Calibri"/>
              </a:defRPr>
            </a:pPr>
            <a:r>
              <a:t>15  TECHNOLOGY STACK &amp;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474720" cy="1554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73152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80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Next.js 14, React 18, TypeScript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Server-side rendering, type safety, modern component architecture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097280"/>
            <a:ext cx="3474720" cy="1554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1280160"/>
            <a:ext cx="73152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280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Calibri"/>
              </a:defRPr>
            </a:pPr>
            <a:r>
              <a:t>Styling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6916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Tailwind CSS, Lucide Icons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0116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Enterprise UI with consistent design system, 30% orange accent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097280"/>
            <a:ext cx="3474720" cy="1554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1280160"/>
            <a:ext cx="73152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280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Calibri"/>
              </a:defRPr>
            </a:pPr>
            <a:r>
              <a:t>Charts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16916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Recharts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0116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Interactive data visualizations — bar, pie, donut, horizontal bar charts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926080"/>
            <a:ext cx="3474720" cy="1554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3108960"/>
            <a:ext cx="73152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108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5204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Express.js, TypeScript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840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RESTful API server with 150+ endpoints, middleware architecture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0" y="2926080"/>
            <a:ext cx="3474720" cy="1554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34840" y="3108960"/>
            <a:ext cx="73152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3440" y="3108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Calibri"/>
              </a:defRPr>
            </a:pPr>
            <a:r>
              <a:t>Auth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35204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JWT + Refresh Tokens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3840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Stateless authentication, RBAC, session management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2926080"/>
            <a:ext cx="3474720" cy="1554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75320" y="3108960"/>
            <a:ext cx="73152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108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Calibri"/>
              </a:defRPr>
            </a:pPr>
            <a:r>
              <a:t>Storage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5204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JSON File Persistence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3840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Rapid prototyping with database-ready architecture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937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Calibri"/>
              </a:defRPr>
            </a:pPr>
            <a:r>
              <a:t>Non-Functional Features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394960"/>
            <a:ext cx="2011680" cy="91440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4406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9E0B"/>
                </a:solidFill>
                <a:latin typeface="Calibri"/>
              </a:defRPr>
            </a:pPr>
            <a:r>
              <a:t>Responsive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76072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Desktop, tablet, mobile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0" y="5394960"/>
            <a:ext cx="2011680" cy="91440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80360" y="54406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9E0B"/>
                </a:solidFill>
                <a:latin typeface="Calibri"/>
              </a:defRPr>
            </a:pPr>
            <a:r>
              <a:t>Accessible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80360" y="576072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WCAG 2.1, ARIA labels, keyboard nav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0" y="5394960"/>
            <a:ext cx="2011680" cy="91440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66360" y="54406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9E0B"/>
                </a:solidFill>
                <a:latin typeface="Calibri"/>
              </a:defRPr>
            </a:pPr>
            <a:r>
              <a:t>Performant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66360" y="576072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Skeleton loading, staggered animations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0" y="5394960"/>
            <a:ext cx="2011680" cy="91440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52360" y="54406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9E0B"/>
                </a:solidFill>
                <a:latin typeface="Calibri"/>
              </a:defRPr>
            </a:pPr>
            <a:r>
              <a:t>Secure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576072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256-bit encryption, RBAC, JWT, input sanitization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601200" y="5394960"/>
            <a:ext cx="2011680" cy="91440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38360" y="54406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9E0B"/>
                </a:solidFill>
                <a:latin typeface="Calibri"/>
              </a:defRPr>
            </a:pPr>
            <a:r>
              <a:t>Enterprise UX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38360" y="576072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Toasts, confirmations, breadcrumbs, search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59E0B"/>
                </a:solidFill>
                <a:latin typeface="Calibri"/>
              </a:defRPr>
            </a:pPr>
            <a:r>
              <a:t>IMGC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56032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4747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BD5E1"/>
                </a:solidFill>
                <a:latin typeface="Calibri"/>
              </a:defRPr>
            </a:pPr>
            <a:r>
              <a:t>Policy Administration System — Enterprise Edition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4206240"/>
            <a:ext cx="3017520" cy="27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45720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For questions or demo access, contact the PAS Development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3035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Confidential  |  IMGC PAS v3.2.1  |  March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852160"/>
            <a:ext cx="1554480" cy="457200"/>
          </a:xfrm>
          <a:prstGeom prst="round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897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59E0B"/>
                </a:solidFill>
                <a:latin typeface="Calibri"/>
              </a:defRPr>
            </a:pPr>
            <a:r>
              <a:t>14+ Modules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97480" y="5852160"/>
            <a:ext cx="1554480" cy="457200"/>
          </a:xfrm>
          <a:prstGeom prst="round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5897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59E0B"/>
                </a:solidFill>
                <a:latin typeface="Calibri"/>
              </a:defRPr>
            </a:pPr>
            <a:r>
              <a:t>150+ APIs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5852160"/>
            <a:ext cx="1554480" cy="457200"/>
          </a:xfrm>
          <a:prstGeom prst="round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5897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59E0B"/>
                </a:solidFill>
                <a:latin typeface="Calibri"/>
              </a:defRPr>
            </a:pPr>
            <a:r>
              <a:t>5 User Roles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5852160"/>
            <a:ext cx="1554480" cy="457200"/>
          </a:xfrm>
          <a:prstGeom prst="round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5897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59E0B"/>
                </a:solidFill>
                <a:latin typeface="Calibri"/>
              </a:defRPr>
            </a:pPr>
            <a:r>
              <a:t>256-bit Encrypted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5852160"/>
            <a:ext cx="1554480" cy="457200"/>
          </a:xfrm>
          <a:prstGeom prst="round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5897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59E0B"/>
                </a:solidFill>
                <a:latin typeface="Calibri"/>
              </a:defRPr>
            </a:pPr>
            <a:r>
              <a:t>SOC 2 Compliant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29800" y="5852160"/>
            <a:ext cx="1554480" cy="457200"/>
          </a:xfrm>
          <a:prstGeom prst="round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5897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59E0B"/>
                </a:solidFill>
                <a:latin typeface="Calibri"/>
              </a:defRPr>
            </a:pPr>
            <a:r>
              <a:t>IRDAI Regulated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